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ar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43" y="6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AAF97-3F3F-4647-BFCC-5EFCA24142CB}" type="datetimeFigureOut">
              <a:rPr lang="ar-SA" smtClean="0"/>
              <a:t>11/09/47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3755-CF6C-410B-95F5-5FFD20FB5FD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02724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AAF97-3F3F-4647-BFCC-5EFCA24142CB}" type="datetimeFigureOut">
              <a:rPr lang="ar-SA" smtClean="0"/>
              <a:t>11/09/47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3755-CF6C-410B-95F5-5FFD20FB5FD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82348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AAF97-3F3F-4647-BFCC-5EFCA24142CB}" type="datetimeFigureOut">
              <a:rPr lang="ar-SA" smtClean="0"/>
              <a:t>11/09/47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3755-CF6C-410B-95F5-5FFD20FB5FD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40975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AAF97-3F3F-4647-BFCC-5EFCA24142CB}" type="datetimeFigureOut">
              <a:rPr lang="ar-SA" smtClean="0"/>
              <a:t>11/09/47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3755-CF6C-410B-95F5-5FFD20FB5FD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71397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AAF97-3F3F-4647-BFCC-5EFCA24142CB}" type="datetimeFigureOut">
              <a:rPr lang="ar-SA" smtClean="0"/>
              <a:t>11/09/47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3755-CF6C-410B-95F5-5FFD20FB5FD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75820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AAF97-3F3F-4647-BFCC-5EFCA24142CB}" type="datetimeFigureOut">
              <a:rPr lang="ar-SA" smtClean="0"/>
              <a:t>11/09/47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3755-CF6C-410B-95F5-5FFD20FB5FD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98442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AAF97-3F3F-4647-BFCC-5EFCA24142CB}" type="datetimeFigureOut">
              <a:rPr lang="ar-SA" smtClean="0"/>
              <a:t>11/09/47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3755-CF6C-410B-95F5-5FFD20FB5FD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067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AAF97-3F3F-4647-BFCC-5EFCA24142CB}" type="datetimeFigureOut">
              <a:rPr lang="ar-SA" smtClean="0"/>
              <a:t>11/09/47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3755-CF6C-410B-95F5-5FFD20FB5FD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57760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AAF97-3F3F-4647-BFCC-5EFCA24142CB}" type="datetimeFigureOut">
              <a:rPr lang="ar-SA" smtClean="0"/>
              <a:t>11/09/47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3755-CF6C-410B-95F5-5FFD20FB5FD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02447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AAF97-3F3F-4647-BFCC-5EFCA24142CB}" type="datetimeFigureOut">
              <a:rPr lang="ar-SA" smtClean="0"/>
              <a:t>11/09/47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3755-CF6C-410B-95F5-5FFD20FB5FD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0451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AAF97-3F3F-4647-BFCC-5EFCA24142CB}" type="datetimeFigureOut">
              <a:rPr lang="ar-SA" smtClean="0"/>
              <a:t>11/09/47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3755-CF6C-410B-95F5-5FFD20FB5FD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019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AAF97-3F3F-4647-BFCC-5EFCA24142CB}" type="datetimeFigureOut">
              <a:rPr lang="ar-SA" smtClean="0"/>
              <a:t>11/09/47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73755-CF6C-410B-95F5-5FFD20FB5FD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5889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8323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ar-SA" b="1" dirty="0"/>
              <a:t>خطوات بناء المشروع</a:t>
            </a:r>
            <a:br>
              <a:rPr lang="ar-SA" b="1" dirty="0"/>
            </a:b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3579"/>
            <a:ext cx="10515600" cy="4813383"/>
          </a:xfrm>
        </p:spPr>
        <p:txBody>
          <a:bodyPr/>
          <a:lstStyle/>
          <a:p>
            <a:pPr marL="514350" indent="-514350" algn="r" rtl="1">
              <a:buFont typeface="+mj-lt"/>
              <a:buAutoNum type="arabicPeriod"/>
            </a:pPr>
            <a:r>
              <a:rPr lang="ar-SA" dirty="0" smtClean="0"/>
              <a:t>التهيئة : </a:t>
            </a:r>
            <a:br>
              <a:rPr lang="ar-SA" dirty="0" smtClean="0"/>
            </a:br>
            <a:endParaRPr lang="ar-SA" dirty="0" smtClean="0"/>
          </a:p>
          <a:p>
            <a:pPr algn="r" rtl="1"/>
            <a:r>
              <a:rPr lang="ar-SA" dirty="0" smtClean="0"/>
              <a:t>فتح نافذة </a:t>
            </a:r>
            <a:r>
              <a:rPr lang="en-US" dirty="0" smtClean="0"/>
              <a:t>GLFW </a:t>
            </a:r>
            <a:r>
              <a:rPr lang="ar-SA" dirty="0" smtClean="0"/>
              <a:t> : </a:t>
            </a:r>
            <a:r>
              <a:rPr lang="en-US" dirty="0" smtClean="0"/>
              <a:t>600*800</a:t>
            </a:r>
          </a:p>
          <a:p>
            <a:pPr algn="r" rtl="1"/>
            <a:r>
              <a:rPr lang="en-US" dirty="0" smtClean="0"/>
              <a:t>GLFW </a:t>
            </a:r>
            <a:r>
              <a:rPr lang="ar-SA" dirty="0" smtClean="0"/>
              <a:t> : تحميل دوال </a:t>
            </a:r>
            <a:r>
              <a:rPr lang="en-US" dirty="0" smtClean="0"/>
              <a:t>OpenGL </a:t>
            </a:r>
            <a:r>
              <a:rPr lang="ar-SA" dirty="0" smtClean="0"/>
              <a:t> </a:t>
            </a:r>
          </a:p>
          <a:p>
            <a:pPr algn="r" rtl="1"/>
            <a:r>
              <a:rPr lang="ar-SA" dirty="0" smtClean="0"/>
              <a:t>تحديد منطقة الرسم</a:t>
            </a:r>
          </a:p>
          <a:p>
            <a:pPr algn="r" rtl="1"/>
            <a:endParaRPr lang="ar-SA" dirty="0" smtClean="0"/>
          </a:p>
          <a:p>
            <a:pPr marL="0" indent="0" algn="r" rtl="1">
              <a:buNone/>
            </a:pPr>
            <a:r>
              <a:rPr lang="ar-SA" dirty="0" smtClean="0"/>
              <a:t>2. كتابة ال </a:t>
            </a:r>
            <a:r>
              <a:rPr lang="en-US" dirty="0" smtClean="0"/>
              <a:t> </a:t>
            </a:r>
            <a:r>
              <a:rPr lang="en-US" dirty="0" err="1" smtClean="0"/>
              <a:t>shaders</a:t>
            </a:r>
            <a:r>
              <a:rPr lang="en-US" dirty="0" smtClean="0"/>
              <a:t> </a:t>
            </a:r>
            <a:r>
              <a:rPr lang="ar-SA" dirty="0" smtClean="0"/>
              <a:t> :</a:t>
            </a:r>
          </a:p>
          <a:p>
            <a:pPr algn="r" rtl="1"/>
            <a:r>
              <a:rPr lang="en-US" dirty="0"/>
              <a:t> </a:t>
            </a:r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r>
              <a:rPr lang="en-US" dirty="0" smtClean="0"/>
              <a:t> </a:t>
            </a:r>
            <a:r>
              <a:rPr lang="ar-SA" dirty="0" smtClean="0"/>
              <a:t> : يستقبل الموقع و اللون ويمررها </a:t>
            </a:r>
          </a:p>
          <a:p>
            <a:pPr algn="r" rtl="1"/>
            <a:r>
              <a:rPr lang="en-US" dirty="0"/>
              <a:t> </a:t>
            </a:r>
            <a:r>
              <a:rPr lang="en-US" dirty="0" smtClean="0"/>
              <a:t>fragment </a:t>
            </a:r>
            <a:r>
              <a:rPr lang="en-US" dirty="0" err="1" smtClean="0"/>
              <a:t>shader</a:t>
            </a:r>
            <a:r>
              <a:rPr lang="en-US" dirty="0" smtClean="0"/>
              <a:t> </a:t>
            </a:r>
            <a:r>
              <a:rPr lang="ar-SA" dirty="0" smtClean="0"/>
              <a:t>: يستقبل اللون + </a:t>
            </a:r>
            <a:r>
              <a:rPr lang="en-US" dirty="0" smtClean="0"/>
              <a:t> uniform Alpha </a:t>
            </a:r>
            <a:r>
              <a:rPr lang="ar-SA" dirty="0" smtClean="0"/>
              <a:t> ويكتب اللون النهائي</a:t>
            </a:r>
          </a:p>
          <a:p>
            <a:pPr marL="0" indent="0" algn="r" rtl="1">
              <a:buNone/>
            </a:pPr>
            <a:endParaRPr lang="ar-SA" dirty="0" smtClean="0"/>
          </a:p>
        </p:txBody>
      </p:sp>
    </p:spTree>
    <p:extLst>
      <p:ext uri="{BB962C8B-B14F-4D97-AF65-F5344CB8AC3E}">
        <p14:creationId xmlns:p14="http://schemas.microsoft.com/office/powerpoint/2010/main" val="82610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93558"/>
            <a:ext cx="10515600" cy="5583405"/>
          </a:xfrm>
        </p:spPr>
        <p:txBody>
          <a:bodyPr>
            <a:normAutofit fontScale="85000" lnSpcReduction="20000"/>
          </a:bodyPr>
          <a:lstStyle/>
          <a:p>
            <a:pPr marL="0" indent="0" algn="r" rtl="1">
              <a:buNone/>
            </a:pPr>
            <a:r>
              <a:rPr lang="ar-SA" dirty="0" smtClean="0"/>
              <a:t>3. تجهيز البيانات ونقلها </a:t>
            </a:r>
          </a:p>
          <a:p>
            <a:pPr marL="0" indent="0" algn="r" rtl="1">
              <a:buNone/>
            </a:pPr>
            <a:endParaRPr lang="ar-SA" dirty="0" smtClean="0"/>
          </a:p>
          <a:p>
            <a:pPr algn="r" rtl="1" latinLnBrk="1"/>
            <a:r>
              <a:rPr lang="ar-SA" dirty="0"/>
              <a:t>تحديد إحداثيات الرأس (مستطيل رمادي)</a:t>
            </a:r>
            <a:endParaRPr lang="en-US" dirty="0"/>
          </a:p>
          <a:p>
            <a:pPr algn="r" rtl="1" latinLnBrk="1"/>
            <a:r>
              <a:rPr lang="ar-SA" dirty="0"/>
              <a:t>تحديد إحداثيات العيون (بياض + بؤبؤ)</a:t>
            </a:r>
            <a:endParaRPr lang="en-US" dirty="0"/>
          </a:p>
          <a:p>
            <a:pPr algn="r" rtl="1" latinLnBrk="1"/>
            <a:r>
              <a:rPr lang="ar-SA" dirty="0"/>
              <a:t>تحديد إحداثيات الفم السعيد (قوس أخضر) والحزين (قوس أزرق)</a:t>
            </a:r>
            <a:endParaRPr lang="en-US" dirty="0"/>
          </a:p>
          <a:p>
            <a:pPr algn="r" rtl="1" latinLnBrk="1"/>
            <a:r>
              <a:rPr lang="ar-SA" dirty="0"/>
              <a:t>إنشاء</a:t>
            </a:r>
            <a:r>
              <a:rPr lang="en-US" dirty="0"/>
              <a:t> VAO </a:t>
            </a:r>
            <a:r>
              <a:rPr lang="ar-SA" dirty="0"/>
              <a:t>و</a:t>
            </a:r>
            <a:r>
              <a:rPr lang="en-US" dirty="0"/>
              <a:t> VBO </a:t>
            </a:r>
            <a:r>
              <a:rPr lang="ar-SA" dirty="0"/>
              <a:t>لكل جزء</a:t>
            </a:r>
            <a:endParaRPr lang="en-US" dirty="0"/>
          </a:p>
          <a:p>
            <a:pPr algn="r" rtl="1" latinLnBrk="1"/>
            <a:r>
              <a:rPr lang="en-US" dirty="0" err="1"/>
              <a:t>glVertexAttribPointer</a:t>
            </a:r>
            <a:r>
              <a:rPr lang="en-US" dirty="0"/>
              <a:t> </a:t>
            </a:r>
            <a:r>
              <a:rPr lang="ar-SA" dirty="0" smtClean="0"/>
              <a:t> :</a:t>
            </a:r>
            <a:r>
              <a:rPr lang="ar-SA" dirty="0"/>
              <a:t>شرح البيانات </a:t>
            </a:r>
            <a:r>
              <a:rPr lang="ar-SA" dirty="0" smtClean="0"/>
              <a:t>بـ(</a:t>
            </a:r>
            <a:r>
              <a:rPr lang="en-US" dirty="0" err="1" smtClean="0"/>
              <a:t>strde</a:t>
            </a:r>
            <a:r>
              <a:rPr lang="ar-SA" dirty="0" smtClean="0"/>
              <a:t> و</a:t>
            </a:r>
            <a:r>
              <a:rPr lang="en-US" dirty="0" smtClean="0"/>
              <a:t>offset</a:t>
            </a:r>
            <a:r>
              <a:rPr lang="ar-SA" dirty="0" smtClean="0"/>
              <a:t>)</a:t>
            </a:r>
            <a:endParaRPr lang="ar-SA" dirty="0"/>
          </a:p>
          <a:p>
            <a:pPr marL="0" indent="0" algn="r" rtl="1" latinLnBrk="1">
              <a:buNone/>
            </a:pPr>
            <a:endParaRPr lang="ar-SA" dirty="0"/>
          </a:p>
          <a:p>
            <a:pPr marL="0" indent="0" algn="r" rtl="1" latinLnBrk="1">
              <a:buNone/>
            </a:pPr>
            <a:r>
              <a:rPr lang="ar-SA" dirty="0" smtClean="0"/>
              <a:t>4.حلقة الرسم و التفاعل :</a:t>
            </a:r>
          </a:p>
          <a:p>
            <a:pPr algn="r" rtl="1"/>
            <a:r>
              <a:rPr lang="ar-SA" dirty="0"/>
              <a:t>معالجة الكيبورد (أزرار 1، 2، </a:t>
            </a:r>
            <a:r>
              <a:rPr lang="en-US" dirty="0"/>
              <a:t>Space</a:t>
            </a:r>
            <a:r>
              <a:rPr lang="ar-SA" dirty="0"/>
              <a:t>)</a:t>
            </a:r>
            <a:endParaRPr lang="en-US" dirty="0"/>
          </a:p>
          <a:p>
            <a:pPr algn="r" rtl="1"/>
            <a:r>
              <a:rPr lang="ar-SA" dirty="0"/>
              <a:t>مسح الشاشة</a:t>
            </a:r>
            <a:endParaRPr lang="en-US" dirty="0"/>
          </a:p>
          <a:p>
            <a:pPr algn="r" rtl="1"/>
            <a:r>
              <a:rPr lang="ar-SA" dirty="0"/>
              <a:t>تفعيل الشيدرز وإرسال الشفافية</a:t>
            </a:r>
            <a:endParaRPr lang="en-US" dirty="0"/>
          </a:p>
          <a:p>
            <a:pPr algn="r" rtl="1"/>
            <a:r>
              <a:rPr lang="ar-SA" dirty="0"/>
              <a:t>رسم الرأس ← العيون ← الفم</a:t>
            </a:r>
            <a:endParaRPr lang="en-US" dirty="0"/>
          </a:p>
          <a:p>
            <a:pPr algn="r" rtl="1"/>
            <a:r>
              <a:rPr lang="ar-SA" dirty="0"/>
              <a:t>تبديل المخازن</a:t>
            </a:r>
            <a:endParaRPr lang="en-US" dirty="0"/>
          </a:p>
          <a:p>
            <a:pPr algn="r" rtl="1" latinLnBrk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199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ar-SA" b="1" dirty="0"/>
              <a:t>المشاكل اللي واجهتني وحلولها</a:t>
            </a:r>
            <a:br>
              <a:rPr lang="ar-SA" b="1" dirty="0"/>
            </a:b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57300"/>
            <a:ext cx="10515600" cy="5119688"/>
          </a:xfrm>
        </p:spPr>
        <p:txBody>
          <a:bodyPr>
            <a:normAutofit fontScale="92500" lnSpcReduction="10000"/>
          </a:bodyPr>
          <a:lstStyle/>
          <a:p>
            <a:pPr marL="514350" indent="-514350" algn="r" rtl="1">
              <a:buFont typeface="+mj-lt"/>
              <a:buAutoNum type="arabicPeriod"/>
            </a:pPr>
            <a:r>
              <a:rPr lang="ar-SA" dirty="0"/>
              <a:t>العيون والفم ما كانوا </a:t>
            </a:r>
            <a:r>
              <a:rPr lang="ar-SA" dirty="0" smtClean="0"/>
              <a:t>يظهروا </a:t>
            </a:r>
            <a:r>
              <a:rPr lang="ar-SA" dirty="0"/>
              <a:t>: </a:t>
            </a:r>
            <a:br>
              <a:rPr lang="ar-SA" dirty="0"/>
            </a:br>
            <a:endParaRPr lang="en-US" dirty="0"/>
          </a:p>
          <a:p>
            <a:pPr algn="r" rtl="1"/>
            <a:r>
              <a:rPr lang="ar-SA" dirty="0" smtClean="0"/>
              <a:t>السبب : </a:t>
            </a:r>
            <a:r>
              <a:rPr lang="ar-SA" dirty="0"/>
              <a:t>كل العناصر كانت </a:t>
            </a:r>
            <a:r>
              <a:rPr lang="en-US" dirty="0"/>
              <a:t>Z = 0.0</a:t>
            </a:r>
            <a:r>
              <a:rPr lang="ar-SA" dirty="0"/>
              <a:t> (نفس مستوى الرأس)</a:t>
            </a:r>
            <a:endParaRPr lang="en-US" dirty="0"/>
          </a:p>
          <a:p>
            <a:pPr algn="r" rtl="1"/>
            <a:r>
              <a:rPr lang="ar-SA" dirty="0" smtClean="0"/>
              <a:t>الحل : </a:t>
            </a:r>
            <a:r>
              <a:rPr lang="ar-SA" dirty="0"/>
              <a:t>غيرت </a:t>
            </a:r>
            <a:r>
              <a:rPr lang="en-US" dirty="0"/>
              <a:t>Z</a:t>
            </a:r>
            <a:r>
              <a:rPr lang="ar-SA" dirty="0"/>
              <a:t> للعيون إلى 0.1 وللبؤبؤ إلى 0.2</a:t>
            </a:r>
            <a:endParaRPr lang="en-US" dirty="0"/>
          </a:p>
          <a:p>
            <a:pPr algn="r" rtl="1"/>
            <a:r>
              <a:rPr lang="ar-SA" dirty="0" smtClean="0"/>
              <a:t>النتيجة : </a:t>
            </a:r>
            <a:r>
              <a:rPr lang="ar-SA" dirty="0"/>
              <a:t>ظهرت العيون والفم قدام الرأس</a:t>
            </a:r>
            <a:endParaRPr lang="en-US" dirty="0"/>
          </a:p>
          <a:p>
            <a:pPr algn="r" rtl="1"/>
            <a:endParaRPr lang="ar-SA" dirty="0"/>
          </a:p>
          <a:p>
            <a:pPr marL="0" indent="0" algn="r" rtl="1">
              <a:buNone/>
            </a:pPr>
            <a:r>
              <a:rPr lang="ar-SA" dirty="0"/>
              <a:t>2. </a:t>
            </a:r>
            <a:r>
              <a:rPr lang="ar-SA" dirty="0"/>
              <a:t>الأزرار كانت تستجيب 60 مرة بالضغطة </a:t>
            </a:r>
            <a:r>
              <a:rPr lang="ar-SA" dirty="0" smtClean="0"/>
              <a:t>الواحدة :</a:t>
            </a:r>
            <a:r>
              <a:rPr lang="ar-SA" dirty="0"/>
              <a:t>السبب: </a:t>
            </a:r>
            <a:r>
              <a:rPr lang="ar-SA" dirty="0" smtClean="0"/>
              <a:t/>
            </a:r>
            <a:br>
              <a:rPr lang="ar-SA" dirty="0" smtClean="0"/>
            </a:br>
            <a:endParaRPr lang="en-US" dirty="0" smtClean="0"/>
          </a:p>
          <a:p>
            <a:pPr algn="r" rtl="1"/>
            <a:r>
              <a:rPr lang="ar-SA" dirty="0"/>
              <a:t>السبب: حلقة الرسم تشتغل 60 إطار/ثانية</a:t>
            </a:r>
            <a:endParaRPr lang="en-US" dirty="0"/>
          </a:p>
          <a:p>
            <a:pPr algn="r" rtl="1"/>
            <a:r>
              <a:rPr lang="ar-SA" dirty="0"/>
              <a:t>الحل: </a:t>
            </a:r>
            <a:r>
              <a:rPr lang="ar-SA" dirty="0" smtClean="0"/>
              <a:t>استخدمت </a:t>
            </a:r>
            <a:r>
              <a:rPr lang="en-US" dirty="0"/>
              <a:t>Edge Detection</a:t>
            </a:r>
            <a:r>
              <a:rPr lang="ar-SA"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if </a:t>
            </a:r>
            <a:r>
              <a:rPr lang="en-US" dirty="0"/>
              <a:t>(key == GLFW_PRESS &amp;&amp; </a:t>
            </a:r>
            <a:r>
              <a:rPr lang="en-US" dirty="0" err="1"/>
              <a:t>prevKey</a:t>
            </a:r>
            <a:r>
              <a:rPr lang="en-US" dirty="0"/>
              <a:t> == GLFW_RELEASE</a:t>
            </a:r>
            <a:r>
              <a:rPr lang="en-US" dirty="0" smtClean="0"/>
              <a:t>)</a:t>
            </a:r>
            <a:endParaRPr lang="en-US" dirty="0"/>
          </a:p>
          <a:p>
            <a:pPr algn="r" rtl="1"/>
            <a:r>
              <a:rPr lang="ar-SA" dirty="0" smtClean="0"/>
              <a:t>النتيجة</a:t>
            </a:r>
            <a:r>
              <a:rPr lang="ar-SA" dirty="0"/>
              <a:t>: كل ضغطة تتحسب مرة واحدة فقط</a:t>
            </a:r>
            <a:endParaRPr lang="en-US" dirty="0"/>
          </a:p>
          <a:p>
            <a:pPr marL="0" indent="0" algn="r" rtl="1">
              <a:buNone/>
            </a:pPr>
            <a:endParaRPr lang="ar-SA" dirty="0"/>
          </a:p>
          <a:p>
            <a:pPr marL="0" indent="0" algn="r" rtl="1">
              <a:buNone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734323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3224"/>
            <a:ext cx="10515600" cy="5963407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ar-SA" dirty="0" smtClean="0"/>
              <a:t>3. </a:t>
            </a:r>
            <a:r>
              <a:rPr lang="ar-SA" dirty="0"/>
              <a:t>الفم كان خط رفيع ما </a:t>
            </a:r>
            <a:r>
              <a:rPr lang="ar-SA" dirty="0" smtClean="0"/>
              <a:t>يبان :</a:t>
            </a:r>
            <a:r>
              <a:rPr lang="ar-SA" dirty="0"/>
              <a:t/>
            </a:r>
            <a:br>
              <a:rPr lang="ar-SA" dirty="0"/>
            </a:br>
            <a:endParaRPr lang="en-US" dirty="0"/>
          </a:p>
          <a:p>
            <a:pPr algn="r" rtl="1"/>
            <a:r>
              <a:rPr lang="ar-SA" dirty="0"/>
              <a:t>سمك الخط الافتراضي 1.0 صغير</a:t>
            </a:r>
            <a:endParaRPr lang="en-US" dirty="0"/>
          </a:p>
          <a:p>
            <a:pPr algn="r" rtl="1"/>
            <a:r>
              <a:rPr lang="ar-SA" dirty="0"/>
              <a:t>الحل : </a:t>
            </a:r>
            <a:r>
              <a:rPr lang="en-US" dirty="0" err="1"/>
              <a:t>glLineWidth</a:t>
            </a:r>
            <a:r>
              <a:rPr lang="en-US" dirty="0"/>
              <a:t> (5.0f)</a:t>
            </a:r>
          </a:p>
          <a:p>
            <a:pPr algn="r" rtl="1"/>
            <a:r>
              <a:rPr lang="ar-SA" dirty="0"/>
              <a:t>النتيجة : الفم واضح وكبير</a:t>
            </a:r>
            <a:endParaRPr lang="en-US" dirty="0"/>
          </a:p>
          <a:p>
            <a:pPr marL="0" indent="0" algn="r" rtl="1">
              <a:buNone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721053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ar-SA" b="1" dirty="0"/>
              <a:t>الأكواد المهمة ووظيفتها</a:t>
            </a:r>
            <a:br>
              <a:rPr lang="ar-SA" b="1" dirty="0"/>
            </a:b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3158"/>
            <a:ext cx="10515600" cy="5380522"/>
          </a:xfrm>
        </p:spPr>
        <p:txBody>
          <a:bodyPr>
            <a:normAutofit/>
          </a:bodyPr>
          <a:lstStyle/>
          <a:p>
            <a:pPr marL="514350" indent="-514350" algn="r" rtl="1">
              <a:buAutoNum type="arabicPeriod"/>
            </a:pPr>
            <a:r>
              <a:rPr lang="en-US" dirty="0" smtClean="0"/>
              <a:t>)</a:t>
            </a:r>
            <a:r>
              <a:rPr lang="en-US" b="1" dirty="0" err="1" smtClean="0"/>
              <a:t>Shaders</a:t>
            </a:r>
            <a:r>
              <a:rPr lang="en-US" b="1" dirty="0" smtClean="0"/>
              <a:t> </a:t>
            </a:r>
            <a:r>
              <a:rPr lang="ar-SA" b="1" dirty="0" smtClean="0"/>
              <a:t>قلب </a:t>
            </a:r>
            <a:r>
              <a:rPr lang="ar-SA" b="1" dirty="0"/>
              <a:t>المشروع</a:t>
            </a:r>
            <a:r>
              <a:rPr lang="ar-SA" b="1" dirty="0" smtClean="0"/>
              <a:t>) :</a:t>
            </a:r>
          </a:p>
          <a:p>
            <a:pPr marL="0" indent="0" rtl="1">
              <a:buNone/>
            </a:pPr>
            <a:r>
              <a:rPr lang="ar-SA" dirty="0" smtClean="0"/>
              <a:t> </a:t>
            </a:r>
            <a:r>
              <a:rPr lang="en-US" dirty="0"/>
              <a:t>layout (location = 0) in vec3 </a:t>
            </a:r>
            <a:r>
              <a:rPr lang="en-US" dirty="0" err="1" smtClean="0"/>
              <a:t>aPos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layout (location = 1) in vec3 </a:t>
            </a:r>
            <a:r>
              <a:rPr lang="en-US" dirty="0" err="1"/>
              <a:t>aColor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out vec3 </a:t>
            </a:r>
            <a:r>
              <a:rPr lang="en-US" dirty="0" err="1"/>
              <a:t>ourColor</a:t>
            </a:r>
            <a:r>
              <a:rPr lang="ar-SA" dirty="0"/>
              <a:t>                  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gl_Position</a:t>
            </a:r>
            <a:r>
              <a:rPr lang="en-US" dirty="0"/>
              <a:t> = vec4(</a:t>
            </a:r>
            <a:r>
              <a:rPr lang="en-US" dirty="0" err="1"/>
              <a:t>aPos</a:t>
            </a:r>
            <a:r>
              <a:rPr lang="en-US" dirty="0"/>
              <a:t>, 1.0</a:t>
            </a:r>
            <a:r>
              <a:rPr lang="en-US" dirty="0" smtClean="0"/>
              <a:t>)</a:t>
            </a:r>
            <a:endParaRPr lang="ar-SA" dirty="0" smtClean="0"/>
          </a:p>
          <a:p>
            <a:pPr marL="0" indent="0" algn="r" rtl="1">
              <a:buNone/>
            </a:pPr>
            <a:r>
              <a:rPr lang="ar-SA" b="1" dirty="0"/>
              <a:t>وظيفته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ar-SA" dirty="0"/>
              <a:t>يستقبل كل رأس ويحدد موقعه على الشاشة</a:t>
            </a:r>
            <a:endParaRPr lang="en-US" dirty="0"/>
          </a:p>
          <a:p>
            <a:pPr marL="0" indent="0" algn="r" rtl="1">
              <a:buNone/>
            </a:pPr>
            <a:r>
              <a:rPr lang="en-US" b="1" dirty="0"/>
              <a:t>Fragment </a:t>
            </a:r>
            <a:r>
              <a:rPr lang="en-US" b="1" dirty="0" err="1" smtClean="0"/>
              <a:t>Shader</a:t>
            </a:r>
            <a:r>
              <a:rPr lang="ar-SA" b="1" dirty="0" smtClean="0"/>
              <a:t> : </a:t>
            </a:r>
          </a:p>
          <a:p>
            <a:pPr marL="0" indent="0" rtl="1">
              <a:buNone/>
            </a:pPr>
            <a:r>
              <a:rPr lang="en-US" dirty="0"/>
              <a:t>in vec3 </a:t>
            </a:r>
            <a:r>
              <a:rPr lang="en-US" dirty="0" err="1"/>
              <a:t>ourColor</a:t>
            </a:r>
            <a:endParaRPr lang="en-US" dirty="0"/>
          </a:p>
          <a:p>
            <a:pPr marL="0" indent="0" rtl="1">
              <a:buNone/>
            </a:pPr>
            <a:r>
              <a:rPr lang="en-US" dirty="0"/>
              <a:t>uniform float </a:t>
            </a:r>
            <a:r>
              <a:rPr lang="en-US" dirty="0" err="1" smtClean="0"/>
              <a:t>uAlpha</a:t>
            </a:r>
            <a:r>
              <a:rPr lang="ar-SA" dirty="0" smtClean="0"/>
              <a:t/>
            </a:r>
            <a:br>
              <a:rPr lang="ar-SA" dirty="0" smtClean="0"/>
            </a:br>
            <a:r>
              <a:rPr lang="en-US" dirty="0"/>
              <a:t>out vec4 </a:t>
            </a:r>
            <a:r>
              <a:rPr lang="en-US" dirty="0" err="1"/>
              <a:t>FragColor</a:t>
            </a:r>
            <a:r>
              <a:rPr lang="en-US" dirty="0"/>
              <a:t> = vec4(</a:t>
            </a:r>
            <a:r>
              <a:rPr lang="en-US" dirty="0" err="1"/>
              <a:t>ourColor</a:t>
            </a:r>
            <a:r>
              <a:rPr lang="en-US" dirty="0"/>
              <a:t>, </a:t>
            </a:r>
            <a:r>
              <a:rPr lang="en-US" dirty="0" err="1"/>
              <a:t>uAlpha</a:t>
            </a:r>
            <a:r>
              <a:rPr lang="en-US" dirty="0"/>
              <a:t>)</a:t>
            </a:r>
          </a:p>
          <a:p>
            <a:pPr marL="0" indent="0" algn="r" rtl="1">
              <a:buNone/>
            </a:pPr>
            <a:r>
              <a:rPr lang="ar-SA" b="1" dirty="0"/>
              <a:t>وظيفته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ar-SA" dirty="0"/>
              <a:t>يحدد لون كل بكسل مع تطبيق الشفافية</a:t>
            </a:r>
            <a:endParaRPr lang="en-US" dirty="0"/>
          </a:p>
          <a:p>
            <a:pPr marL="0" indent="0" algn="r" rtl="1">
              <a:buNone/>
            </a:pPr>
            <a:endParaRPr lang="ar-SA" b="1" dirty="0"/>
          </a:p>
        </p:txBody>
      </p:sp>
    </p:spTree>
    <p:extLst>
      <p:ext uri="{BB962C8B-B14F-4D97-AF65-F5344CB8AC3E}">
        <p14:creationId xmlns:p14="http://schemas.microsoft.com/office/powerpoint/2010/main" val="8884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3840"/>
            <a:ext cx="10515600" cy="6400800"/>
          </a:xfrm>
        </p:spPr>
        <p:txBody>
          <a:bodyPr>
            <a:normAutofit fontScale="77500" lnSpcReduction="20000"/>
          </a:bodyPr>
          <a:lstStyle/>
          <a:p>
            <a:pPr marL="0" indent="0" algn="r" rtl="1">
              <a:buNone/>
            </a:pPr>
            <a:r>
              <a:rPr lang="ar-SA" dirty="0" smtClean="0"/>
              <a:t>2. </a:t>
            </a:r>
            <a:r>
              <a:rPr lang="ar-SA" b="1" dirty="0"/>
              <a:t>نقل البيانات </a:t>
            </a:r>
            <a:r>
              <a:rPr lang="ar-SA" b="1" dirty="0" smtClean="0"/>
              <a:t>للكرت :</a:t>
            </a:r>
            <a:endParaRPr lang="ar-SA" b="1" dirty="0"/>
          </a:p>
          <a:p>
            <a:pPr marL="0" indent="0" rtl="1">
              <a:buNone/>
            </a:pPr>
            <a:r>
              <a:rPr lang="en-US" dirty="0" err="1"/>
              <a:t>glGenVertexArrays</a:t>
            </a:r>
            <a:r>
              <a:rPr lang="en-US" dirty="0"/>
              <a:t>(1, &amp;</a:t>
            </a:r>
            <a:r>
              <a:rPr lang="en-US" dirty="0" err="1" smtClean="0"/>
              <a:t>headVAO</a:t>
            </a:r>
            <a:r>
              <a:rPr lang="en-US" dirty="0" smtClean="0"/>
              <a:t>)</a:t>
            </a:r>
            <a:r>
              <a:rPr lang="ar-SA" dirty="0" smtClean="0"/>
              <a:t/>
            </a:r>
            <a:br>
              <a:rPr lang="ar-SA" dirty="0" smtClean="0"/>
            </a:br>
            <a:r>
              <a:rPr lang="en-US" dirty="0" err="1"/>
              <a:t>glGenBuffers</a:t>
            </a:r>
            <a:r>
              <a:rPr lang="en-US" dirty="0"/>
              <a:t>(1, &amp;</a:t>
            </a:r>
            <a:r>
              <a:rPr lang="en-US" dirty="0" err="1"/>
              <a:t>headVBO</a:t>
            </a:r>
            <a:r>
              <a:rPr lang="en-US" dirty="0" smtClean="0"/>
              <a:t>)</a:t>
            </a:r>
            <a:r>
              <a:rPr lang="ar-SA" dirty="0" smtClean="0"/>
              <a:t/>
            </a:r>
            <a:br>
              <a:rPr lang="ar-SA" dirty="0" smtClean="0"/>
            </a:br>
            <a:r>
              <a:rPr lang="ar-SA" dirty="0" smtClean="0"/>
              <a:t/>
            </a:r>
            <a:br>
              <a:rPr lang="ar-SA" dirty="0" smtClean="0"/>
            </a:br>
            <a:r>
              <a:rPr lang="en-US" dirty="0" err="1"/>
              <a:t>glBindVertexArray</a:t>
            </a:r>
            <a:r>
              <a:rPr lang="en-US" dirty="0"/>
              <a:t>(</a:t>
            </a:r>
            <a:r>
              <a:rPr lang="en-US" dirty="0" err="1"/>
              <a:t>headVAO</a:t>
            </a:r>
            <a:r>
              <a:rPr lang="en-US" dirty="0"/>
              <a:t>)</a:t>
            </a:r>
          </a:p>
          <a:p>
            <a:pPr marL="0" indent="0" rtl="1">
              <a:buNone/>
            </a:pPr>
            <a:r>
              <a:rPr lang="en-US" dirty="0" err="1"/>
              <a:t>glBindBuffer</a:t>
            </a:r>
            <a:r>
              <a:rPr lang="en-US" dirty="0"/>
              <a:t>(GL_ARRAY_BUFFER, </a:t>
            </a:r>
            <a:r>
              <a:rPr lang="en-US" dirty="0" err="1"/>
              <a:t>headVBO</a:t>
            </a:r>
            <a:r>
              <a:rPr lang="en-US" dirty="0"/>
              <a:t>)</a:t>
            </a:r>
          </a:p>
          <a:p>
            <a:pPr marL="0" indent="0" rtl="1">
              <a:buNone/>
            </a:pPr>
            <a:r>
              <a:rPr lang="en-US" dirty="0" err="1"/>
              <a:t>glBufferData</a:t>
            </a:r>
            <a:r>
              <a:rPr lang="en-US" dirty="0"/>
              <a:t>(GL_ARRAY_BUFFER,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headVertices</a:t>
            </a:r>
            <a:r>
              <a:rPr lang="en-US" dirty="0"/>
              <a:t>), </a:t>
            </a:r>
            <a:r>
              <a:rPr lang="en-US" dirty="0" err="1"/>
              <a:t>headVertices</a:t>
            </a:r>
            <a:r>
              <a:rPr lang="en-US" dirty="0"/>
              <a:t>, GL_STATIC_DRAW)</a:t>
            </a:r>
          </a:p>
          <a:p>
            <a:pPr marL="0" indent="0" rtl="1">
              <a:buNone/>
            </a:pPr>
            <a:r>
              <a:rPr lang="ar-SA" dirty="0" smtClean="0"/>
              <a:t/>
            </a:r>
            <a:br>
              <a:rPr lang="ar-SA" dirty="0" smtClean="0"/>
            </a:br>
            <a:r>
              <a:rPr lang="en-US" dirty="0" err="1"/>
              <a:t>glVertexAttribPointer</a:t>
            </a:r>
            <a:r>
              <a:rPr lang="en-US" dirty="0"/>
              <a:t>(0, 3, GL_FLOAT, GL_FALSE, 6*</a:t>
            </a:r>
            <a:r>
              <a:rPr lang="en-US" dirty="0" err="1"/>
              <a:t>sizeof</a:t>
            </a:r>
            <a:r>
              <a:rPr lang="en-US" dirty="0"/>
              <a:t>(float), 0)</a:t>
            </a:r>
          </a:p>
          <a:p>
            <a:pPr marL="0" indent="0" rtl="1">
              <a:buNone/>
            </a:pPr>
            <a:r>
              <a:rPr lang="en-US" dirty="0" err="1"/>
              <a:t>glEnableVertexAttribArrayd</a:t>
            </a:r>
            <a:r>
              <a:rPr lang="en-US" dirty="0"/>
              <a:t>(0)</a:t>
            </a:r>
          </a:p>
          <a:p>
            <a:pPr marL="0" indent="0" rtl="1">
              <a:buNone/>
            </a:pPr>
            <a:r>
              <a:rPr lang="ar-SA" dirty="0" smtClean="0"/>
              <a:t/>
            </a:r>
            <a:br>
              <a:rPr lang="ar-SA" dirty="0" smtClean="0"/>
            </a:br>
            <a:r>
              <a:rPr lang="en-US" dirty="0" err="1"/>
              <a:t>glVertexAttribPointer</a:t>
            </a:r>
            <a:r>
              <a:rPr lang="en-US" dirty="0"/>
              <a:t>(1, 3, GL_FLOAT, GL_FALSE, 6*</a:t>
            </a:r>
            <a:r>
              <a:rPr lang="en-US" dirty="0" err="1"/>
              <a:t>sizeof</a:t>
            </a:r>
            <a:r>
              <a:rPr lang="en-US" dirty="0"/>
              <a:t>(float), (void*)(3*</a:t>
            </a:r>
            <a:r>
              <a:rPr lang="en-US" dirty="0" err="1"/>
              <a:t>sizeof</a:t>
            </a:r>
            <a:r>
              <a:rPr lang="en-US" dirty="0"/>
              <a:t>(float</a:t>
            </a:r>
            <a:r>
              <a:rPr lang="en-US" dirty="0" smtClean="0"/>
              <a:t>)))</a:t>
            </a:r>
            <a:r>
              <a:rPr lang="ar-SA" dirty="0" smtClean="0"/>
              <a:t/>
            </a:r>
            <a:br>
              <a:rPr lang="ar-SA" dirty="0" smtClean="0"/>
            </a:br>
            <a:r>
              <a:rPr lang="en-US" dirty="0" err="1" smtClean="0"/>
              <a:t>glEnableVertexAttribArrayd</a:t>
            </a:r>
            <a:r>
              <a:rPr lang="en-US" dirty="0" smtClean="0"/>
              <a:t>(1)</a:t>
            </a:r>
            <a:r>
              <a:rPr lang="ar-SA" dirty="0" smtClean="0"/>
              <a:t/>
            </a:r>
            <a:br>
              <a:rPr lang="ar-SA" dirty="0" smtClean="0"/>
            </a:br>
            <a:endParaRPr lang="en-US" dirty="0"/>
          </a:p>
          <a:p>
            <a:pPr marL="0" lvl="0" indent="0" algn="r" rtl="1">
              <a:buNone/>
            </a:pPr>
            <a:r>
              <a:rPr lang="ar-SA" dirty="0" smtClean="0"/>
              <a:t>وظيفته :</a:t>
            </a:r>
            <a:endParaRPr lang="en-US" dirty="0" smtClean="0"/>
          </a:p>
          <a:p>
            <a:pPr lvl="0" algn="r" rtl="1"/>
            <a:r>
              <a:rPr lang="en-US" dirty="0" smtClean="0"/>
              <a:t> : VBO </a:t>
            </a:r>
            <a:r>
              <a:rPr lang="ar-SA" dirty="0" smtClean="0"/>
              <a:t>ينقل </a:t>
            </a:r>
            <a:r>
              <a:rPr lang="ar-SA" dirty="0"/>
              <a:t>بيانات الرؤوس من</a:t>
            </a:r>
            <a:r>
              <a:rPr lang="en-US" dirty="0"/>
              <a:t> RAM </a:t>
            </a:r>
            <a:r>
              <a:rPr lang="ar-SA" dirty="0"/>
              <a:t>إلى </a:t>
            </a:r>
            <a:r>
              <a:rPr lang="en-US" dirty="0"/>
              <a:t> VRAM</a:t>
            </a:r>
          </a:p>
          <a:p>
            <a:pPr lvl="0" algn="r" rtl="1"/>
            <a:r>
              <a:rPr lang="en-US" dirty="0"/>
              <a:t> : VAO</a:t>
            </a:r>
            <a:r>
              <a:rPr lang="ar-SA" dirty="0"/>
              <a:t>يسجل كيف نقرأ هالبيانات( </a:t>
            </a:r>
            <a:r>
              <a:rPr lang="en-US" dirty="0"/>
              <a:t>Stride </a:t>
            </a:r>
            <a:r>
              <a:rPr lang="ar-SA" dirty="0"/>
              <a:t>و</a:t>
            </a:r>
            <a:r>
              <a:rPr lang="en-US" dirty="0"/>
              <a:t> Offset</a:t>
            </a:r>
            <a:r>
              <a:rPr lang="ar-SA" dirty="0"/>
              <a:t>)</a:t>
            </a:r>
            <a:endParaRPr lang="en-US" dirty="0"/>
          </a:p>
          <a:p>
            <a:pPr lvl="0" algn="r" rtl="1"/>
            <a:r>
              <a:rPr lang="en-US" dirty="0"/>
              <a:t> 6 = Stride</a:t>
            </a:r>
            <a:r>
              <a:rPr lang="ar-SA" dirty="0"/>
              <a:t>أرقام (3 موقع + 3 لون)</a:t>
            </a:r>
            <a:endParaRPr lang="en-US" dirty="0"/>
          </a:p>
          <a:p>
            <a:pPr lvl="0" algn="r" rtl="1"/>
            <a:r>
              <a:rPr lang="en-US" dirty="0"/>
              <a:t> Offset</a:t>
            </a:r>
            <a:r>
              <a:rPr lang="ar-SA" dirty="0"/>
              <a:t>=  </a:t>
            </a:r>
            <a:r>
              <a:rPr lang="en-US" dirty="0"/>
              <a:t>3</a:t>
            </a:r>
            <a:r>
              <a:rPr lang="ar-SA" dirty="0"/>
              <a:t>أرقام (اللون بعد الموقع</a:t>
            </a:r>
            <a:r>
              <a:rPr lang="ar-SA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26043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72440"/>
            <a:ext cx="10515600" cy="5704523"/>
          </a:xfrm>
        </p:spPr>
        <p:txBody>
          <a:bodyPr/>
          <a:lstStyle/>
          <a:p>
            <a:pPr marL="0" indent="0" algn="r" rtl="1">
              <a:buNone/>
            </a:pPr>
            <a:r>
              <a:rPr lang="ar-SA" dirty="0"/>
              <a:t>3.</a:t>
            </a:r>
            <a:r>
              <a:rPr lang="en-US" b="1" dirty="0"/>
              <a:t> Edge Detection</a:t>
            </a:r>
            <a:r>
              <a:rPr lang="ar-SA" b="1" dirty="0"/>
              <a:t>:</a:t>
            </a:r>
            <a:br>
              <a:rPr lang="ar-SA" b="1" dirty="0"/>
            </a:br>
            <a:r>
              <a:rPr lang="ar-SA" dirty="0"/>
              <a:t> </a:t>
            </a:r>
            <a:endParaRPr lang="ar-SA" dirty="0"/>
          </a:p>
          <a:p>
            <a:pPr marL="0" indent="0" rtl="1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currentKey</a:t>
            </a:r>
            <a:r>
              <a:rPr lang="en-US" dirty="0"/>
              <a:t> = </a:t>
            </a:r>
            <a:r>
              <a:rPr lang="en-US" dirty="0" err="1"/>
              <a:t>glfwGetKey</a:t>
            </a:r>
            <a:r>
              <a:rPr lang="en-US" dirty="0"/>
              <a:t>(window, GLFW_KEY_1</a:t>
            </a:r>
            <a:r>
              <a:rPr lang="en-US" dirty="0" smtClean="0"/>
              <a:t>);</a:t>
            </a:r>
            <a:r>
              <a:rPr lang="ar-SA" dirty="0" smtClean="0"/>
              <a:t/>
            </a:r>
            <a:br>
              <a:rPr lang="ar-SA" dirty="0" smtClean="0"/>
            </a:br>
            <a:r>
              <a:rPr lang="en-US" dirty="0"/>
              <a:t>if (</a:t>
            </a:r>
            <a:r>
              <a:rPr lang="en-US" dirty="0" err="1"/>
              <a:t>currentKey</a:t>
            </a:r>
            <a:r>
              <a:rPr lang="en-US" dirty="0"/>
              <a:t> == GLFW_PRESS &amp;&amp; prevKey1 == GLFW_RELEASE) {</a:t>
            </a:r>
          </a:p>
          <a:p>
            <a:pPr marL="0" indent="0" rtl="1">
              <a:buNone/>
            </a:pPr>
            <a:r>
              <a:rPr lang="en-US" dirty="0"/>
              <a:t> expression = 1;  </a:t>
            </a:r>
            <a:br>
              <a:rPr lang="en-US" dirty="0"/>
            </a:br>
            <a:r>
              <a:rPr lang="en-US" dirty="0" smtClean="0"/>
              <a:t>}</a:t>
            </a:r>
            <a:r>
              <a:rPr lang="ar-SA" dirty="0" smtClean="0"/>
              <a:t/>
            </a:r>
            <a:br>
              <a:rPr lang="ar-SA" dirty="0" smtClean="0"/>
            </a:br>
            <a:r>
              <a:rPr lang="en-US" dirty="0"/>
              <a:t>prevKey1 = </a:t>
            </a:r>
            <a:r>
              <a:rPr lang="en-US" dirty="0" err="1" smtClean="0"/>
              <a:t>currentKey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pPr marL="0" indent="0" algn="r" rtl="1">
              <a:buNone/>
            </a:pPr>
            <a:r>
              <a:rPr lang="ar-SA" b="1" dirty="0"/>
              <a:t>وظيفته 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ar-SA" dirty="0"/>
              <a:t>يضمن أن الضغطة الواحدة تتحسب مرة واحدة فقط (مش 60 مرة)</a:t>
            </a:r>
            <a:endParaRPr lang="en-US" dirty="0"/>
          </a:p>
          <a:p>
            <a:pPr marL="0" indent="0" algn="r" rtl="1">
              <a:buNone/>
            </a:pPr>
            <a:endParaRPr lang="en-US" dirty="0"/>
          </a:p>
          <a:p>
            <a:pPr marL="0" indent="0" rtl="1">
              <a:buNone/>
            </a:pPr>
            <a:endParaRPr lang="en-US" dirty="0"/>
          </a:p>
          <a:p>
            <a:pPr marL="0" indent="0" algn="r" rtl="1">
              <a:buNone/>
            </a:pPr>
            <a:endParaRPr lang="en-US" b="1" dirty="0"/>
          </a:p>
          <a:p>
            <a:pPr marL="0" indent="0" algn="r" rtl="1">
              <a:buNone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247375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9560"/>
            <a:ext cx="10515600" cy="6400800"/>
          </a:xfrm>
        </p:spPr>
        <p:txBody>
          <a:bodyPr>
            <a:normAutofit fontScale="85000" lnSpcReduction="20000"/>
          </a:bodyPr>
          <a:lstStyle/>
          <a:p>
            <a:pPr marL="0" indent="0" algn="r" rtl="1">
              <a:buNone/>
            </a:pPr>
            <a:r>
              <a:rPr lang="ar-SA" dirty="0" smtClean="0"/>
              <a:t>4.</a:t>
            </a:r>
            <a:r>
              <a:rPr lang="ar-SA" b="1" dirty="0"/>
              <a:t>  رسم </a:t>
            </a:r>
            <a:r>
              <a:rPr lang="ar-SA" b="1" dirty="0" smtClean="0"/>
              <a:t>العناصر:</a:t>
            </a:r>
          </a:p>
          <a:p>
            <a:pPr marL="0" indent="0" rtl="1">
              <a:buNone/>
            </a:pPr>
            <a:r>
              <a:rPr lang="en-US" dirty="0" err="1"/>
              <a:t>glBindVertexArray</a:t>
            </a:r>
            <a:r>
              <a:rPr lang="en-US" dirty="0"/>
              <a:t>(</a:t>
            </a:r>
            <a:r>
              <a:rPr lang="en-US" dirty="0" err="1"/>
              <a:t>headVAO</a:t>
            </a:r>
            <a:r>
              <a:rPr lang="en-US" dirty="0" smtClean="0"/>
              <a:t>);</a:t>
            </a:r>
            <a:r>
              <a:rPr lang="ar-SA" dirty="0" smtClean="0"/>
              <a:t/>
            </a:r>
            <a:br>
              <a:rPr lang="ar-SA" dirty="0" smtClean="0"/>
            </a:br>
            <a:r>
              <a:rPr lang="en-US" dirty="0" err="1"/>
              <a:t>glDrawElements</a:t>
            </a:r>
            <a:r>
              <a:rPr lang="en-US" dirty="0"/>
              <a:t>(GL_TRIANGLES, 6, GL_UNSIGNED_INT, 0);</a:t>
            </a:r>
          </a:p>
          <a:p>
            <a:pPr marL="0" indent="0" rtl="1">
              <a:buNone/>
            </a:pPr>
            <a:r>
              <a:rPr lang="en-US" dirty="0" err="1"/>
              <a:t>glBindVertexArray</a:t>
            </a:r>
            <a:r>
              <a:rPr lang="en-US" dirty="0"/>
              <a:t>(</a:t>
            </a:r>
            <a:r>
              <a:rPr lang="en-US" dirty="0" err="1"/>
              <a:t>eyesVAO</a:t>
            </a:r>
            <a:r>
              <a:rPr lang="en-US" dirty="0"/>
              <a:t>);</a:t>
            </a:r>
          </a:p>
          <a:p>
            <a:pPr marL="0" indent="0" rtl="1">
              <a:buNone/>
            </a:pPr>
            <a:r>
              <a:rPr lang="en-US" dirty="0" err="1"/>
              <a:t>glDrawArrays</a:t>
            </a:r>
            <a:r>
              <a:rPr lang="en-US" dirty="0"/>
              <a:t>(GL_TRIANGLE_FAN, 0, 4);   </a:t>
            </a:r>
            <a:br>
              <a:rPr lang="en-US" dirty="0"/>
            </a:br>
            <a:r>
              <a:rPr lang="en-US" dirty="0" err="1"/>
              <a:t>glDrawArrays</a:t>
            </a:r>
            <a:r>
              <a:rPr lang="en-US" dirty="0"/>
              <a:t>(GL_TRIANGLE_FAN, 4, 4);   </a:t>
            </a:r>
          </a:p>
          <a:p>
            <a:pPr marL="0" indent="0" rtl="1">
              <a:buNone/>
            </a:pPr>
            <a:r>
              <a:rPr lang="en-US" dirty="0" err="1"/>
              <a:t>glDrawArrays</a:t>
            </a:r>
            <a:r>
              <a:rPr lang="en-US" dirty="0"/>
              <a:t>(GL_TRIANGLE_FAN, 8, 4);   </a:t>
            </a:r>
          </a:p>
          <a:p>
            <a:pPr marL="0" indent="0" rtl="1">
              <a:buNone/>
            </a:pPr>
            <a:r>
              <a:rPr lang="en-US" dirty="0" err="1"/>
              <a:t>glDrawArrays</a:t>
            </a:r>
            <a:r>
              <a:rPr lang="en-US" dirty="0"/>
              <a:t>(GL_TRIANGLE_FAN, 12, 4);  </a:t>
            </a:r>
          </a:p>
          <a:p>
            <a:pPr marL="0" indent="0" rtl="1">
              <a:buNone/>
            </a:pPr>
            <a:r>
              <a:rPr lang="en-US" dirty="0" err="1"/>
              <a:t>glLineWidth</a:t>
            </a:r>
            <a:r>
              <a:rPr lang="en-US" dirty="0"/>
              <a:t>(5.0f);</a:t>
            </a:r>
          </a:p>
          <a:p>
            <a:pPr marL="0" indent="0" rtl="1">
              <a:buNone/>
            </a:pPr>
            <a:r>
              <a:rPr lang="en-US" dirty="0"/>
              <a:t>if (expression == 1)</a:t>
            </a:r>
          </a:p>
          <a:p>
            <a:pPr marL="0" indent="0" rtl="1">
              <a:buNone/>
            </a:pPr>
            <a:r>
              <a:rPr lang="en-US" dirty="0"/>
              <a:t> </a:t>
            </a:r>
            <a:r>
              <a:rPr lang="en-US" dirty="0" err="1"/>
              <a:t>glDrawArrays</a:t>
            </a:r>
            <a:r>
              <a:rPr lang="en-US" dirty="0"/>
              <a:t>(GL_LINE_STRIP, 0, 5);  </a:t>
            </a:r>
            <a:r>
              <a:rPr lang="ar-SA" dirty="0" smtClean="0"/>
              <a:t/>
            </a:r>
            <a:br>
              <a:rPr lang="ar-SA" dirty="0" smtClean="0"/>
            </a:br>
            <a:r>
              <a:rPr lang="en-US" dirty="0"/>
              <a:t>else</a:t>
            </a:r>
          </a:p>
          <a:p>
            <a:pPr marL="0" indent="0" rtl="1">
              <a:buNone/>
            </a:pPr>
            <a:r>
              <a:rPr lang="ar-SA" dirty="0"/>
              <a:t> </a:t>
            </a:r>
            <a:r>
              <a:rPr lang="en-US" dirty="0" err="1"/>
              <a:t>glDrawArrays</a:t>
            </a:r>
            <a:r>
              <a:rPr lang="en-US" dirty="0"/>
              <a:t>(GL_LINE_STRIP, 0, 5)</a:t>
            </a:r>
            <a:r>
              <a:rPr lang="ar-SA" dirty="0"/>
              <a:t>  </a:t>
            </a:r>
            <a:endParaRPr lang="ar-SA" dirty="0" smtClean="0"/>
          </a:p>
          <a:p>
            <a:pPr marL="0" indent="0" algn="r" rtl="1">
              <a:buNone/>
            </a:pPr>
            <a:r>
              <a:rPr lang="ar-SA" dirty="0" smtClean="0"/>
              <a:t>وظيفته :</a:t>
            </a:r>
            <a:endParaRPr lang="en-US" dirty="0"/>
          </a:p>
          <a:p>
            <a:pPr lvl="0" algn="r" rtl="1"/>
            <a:r>
              <a:rPr lang="en-US" dirty="0"/>
              <a:t> : GL_TRIANGLES </a:t>
            </a:r>
            <a:r>
              <a:rPr lang="ar-SA" dirty="0"/>
              <a:t>رسم الرأس كمثلثين</a:t>
            </a:r>
            <a:endParaRPr lang="en-US" dirty="0"/>
          </a:p>
          <a:p>
            <a:pPr lvl="0" algn="r" rtl="1"/>
            <a:r>
              <a:rPr lang="en-US" dirty="0"/>
              <a:t> : GL_TRIANGLE_FAN </a:t>
            </a:r>
            <a:r>
              <a:rPr lang="ar-SA" dirty="0"/>
              <a:t>رسم العيون كمربعات</a:t>
            </a:r>
            <a:endParaRPr lang="en-US" dirty="0"/>
          </a:p>
          <a:p>
            <a:pPr lvl="0" algn="r" rtl="1"/>
            <a:r>
              <a:rPr lang="en-US" dirty="0"/>
              <a:t> : GL_LINE_STRIP </a:t>
            </a:r>
            <a:r>
              <a:rPr lang="ar-SA" dirty="0"/>
              <a:t>رسم الفم كخط متصل</a:t>
            </a:r>
            <a:endParaRPr lang="en-US" dirty="0"/>
          </a:p>
          <a:p>
            <a:pPr marL="0" indent="0" algn="r" rtl="1">
              <a:buNone/>
            </a:pPr>
            <a:endParaRPr lang="ar-SA" dirty="0"/>
          </a:p>
          <a:p>
            <a:pPr marL="0" indent="0" algn="r" rtl="1">
              <a:buNone/>
            </a:pPr>
            <a:endParaRPr lang="ar-SA" b="1" dirty="0"/>
          </a:p>
          <a:p>
            <a:pPr marL="0" indent="0" algn="r" rtl="1">
              <a:buNone/>
            </a:pPr>
            <a:endParaRPr lang="ar-SA" b="1" dirty="0"/>
          </a:p>
          <a:p>
            <a:pPr marL="0" indent="0" algn="r" rtl="1">
              <a:buNone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718599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138</Words>
  <Application>Microsoft Office PowerPoint</Application>
  <PresentationFormat>Widescreen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خطوات بناء المشروع </vt:lpstr>
      <vt:lpstr>PowerPoint Presentation</vt:lpstr>
      <vt:lpstr>المشاكل اللي واجهتني وحلولها </vt:lpstr>
      <vt:lpstr>PowerPoint Presentation</vt:lpstr>
      <vt:lpstr>الأكواد المهمة ووظيفتها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ASUS</cp:lastModifiedBy>
  <cp:revision>7</cp:revision>
  <dcterms:created xsi:type="dcterms:W3CDTF">2026-02-27T18:59:22Z</dcterms:created>
  <dcterms:modified xsi:type="dcterms:W3CDTF">2026-02-27T20:12:48Z</dcterms:modified>
</cp:coreProperties>
</file>